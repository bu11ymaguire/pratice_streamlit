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73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fe846ee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8fe846ee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8fe846ee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8fe846ee8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815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CoCo 1조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디폴트 판별기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권두회, 김연우, 김진욱, 조준형형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1520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ML 학습 -&gt; 복잡한 문제를 해결하기 위해 앙상블 기법 사용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8950" y="1500270"/>
            <a:ext cx="2025600" cy="1561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226" y="1500575"/>
            <a:ext cx="2068064" cy="156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4778" y="1500565"/>
            <a:ext cx="1971800" cy="15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875975" y="3253450"/>
            <a:ext cx="2025600" cy="12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dirty="0">
                <a:solidFill>
                  <a:schemeClr val="dk2"/>
                </a:solidFill>
              </a:rPr>
              <a:t>RandomForestClassifier:</a:t>
            </a:r>
            <a:endParaRPr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dirty="0">
                <a:solidFill>
                  <a:schemeClr val="dk2"/>
                </a:solidFill>
              </a:rPr>
              <a:t>정확도 (Accuracy): 0.8529</a:t>
            </a:r>
            <a:endParaRPr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dirty="0">
                <a:solidFill>
                  <a:schemeClr val="dk2"/>
                </a:solidFill>
              </a:rPr>
              <a:t>정밀도 (Precision): 0.8170</a:t>
            </a:r>
            <a:endParaRPr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dirty="0">
                <a:solidFill>
                  <a:schemeClr val="dk2"/>
                </a:solidFill>
              </a:rPr>
              <a:t>재현율 (Recall): 0.4313</a:t>
            </a:r>
            <a:endParaRPr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dirty="0">
                <a:solidFill>
                  <a:schemeClr val="dk2"/>
                </a:solidFill>
              </a:rPr>
              <a:t>F1-점수 (F1-Score): 0.5646</a:t>
            </a:r>
            <a:endParaRPr sz="11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372475" y="3253450"/>
            <a:ext cx="1874100" cy="1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XGBoost 모델: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정확도 (Accuracy): 0.8268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정밀도 (Precision): 0.6978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재현율 (Recall): 0.3825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2"/>
                </a:solidFill>
              </a:rPr>
              <a:t>F1-점수 (F1-Score): 0.4941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064700" y="3253450"/>
            <a:ext cx="2025600" cy="11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LightGBM 모델: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정확도 (Accuracy): 0.8323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정밀도 (Precision): 0.7194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재현율 (Recall): 0.3962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chemeClr val="dk2"/>
                </a:solidFill>
              </a:rPr>
              <a:t>F1-점수 (F1-Score): 0.5110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4F3E41-EE90-0BB0-F61A-6D99C0C3D9FB}"/>
              </a:ext>
            </a:extLst>
          </p:cNvPr>
          <p:cNvSpPr txBox="1"/>
          <p:nvPr/>
        </p:nvSpPr>
        <p:spPr>
          <a:xfrm>
            <a:off x="2339340" y="724750"/>
            <a:ext cx="36296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불균형 </a:t>
            </a:r>
            <a:r>
              <a:rPr lang="ko-KR" altLang="en-US" dirty="0" err="1"/>
              <a:t>해결전</a:t>
            </a:r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6CE160-5137-532B-4E1A-F8A59D7AC785}"/>
              </a:ext>
            </a:extLst>
          </p:cNvPr>
          <p:cNvSpPr txBox="1"/>
          <p:nvPr/>
        </p:nvSpPr>
        <p:spPr>
          <a:xfrm>
            <a:off x="1033817" y="2571748"/>
            <a:ext cx="197358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RandomForest</a:t>
            </a:r>
            <a:endParaRPr lang="en-US" altLang="ko-KR" dirty="0"/>
          </a:p>
          <a:p>
            <a:r>
              <a:rPr lang="ko-KR" altLang="en-US" dirty="0"/>
              <a:t>정확도</a:t>
            </a:r>
            <a:r>
              <a:rPr lang="en-US" altLang="ko-KR" dirty="0"/>
              <a:t>: 0.7853, </a:t>
            </a:r>
          </a:p>
          <a:p>
            <a:r>
              <a:rPr lang="ko-KR" altLang="en-US" dirty="0"/>
              <a:t>정밀도</a:t>
            </a:r>
            <a:r>
              <a:rPr lang="en-US" altLang="ko-KR" dirty="0"/>
              <a:t>: 0.5979, </a:t>
            </a:r>
          </a:p>
          <a:p>
            <a:r>
              <a:rPr lang="ko-KR" altLang="en-US" dirty="0" err="1"/>
              <a:t>재현율</a:t>
            </a:r>
            <a:r>
              <a:rPr lang="en-US" altLang="ko-KR" dirty="0"/>
              <a:t>: 0.0897, </a:t>
            </a:r>
          </a:p>
          <a:p>
            <a:r>
              <a:rPr lang="en-US" altLang="ko-KR" dirty="0"/>
              <a:t>F1 </a:t>
            </a:r>
            <a:r>
              <a:rPr lang="ko-KR" altLang="en-US" dirty="0"/>
              <a:t>스코어</a:t>
            </a:r>
            <a:r>
              <a:rPr lang="en-US" altLang="ko-KR" dirty="0"/>
              <a:t>: 0.1560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720884-ADA6-E8C7-9E1F-A2CD6AD0BE62}"/>
              </a:ext>
            </a:extLst>
          </p:cNvPr>
          <p:cNvSpPr txBox="1"/>
          <p:nvPr/>
        </p:nvSpPr>
        <p:spPr>
          <a:xfrm>
            <a:off x="3466532" y="2571749"/>
            <a:ext cx="173326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LightGBM</a:t>
            </a:r>
            <a:endParaRPr lang="en-US" altLang="ko-KR" dirty="0"/>
          </a:p>
          <a:p>
            <a:r>
              <a:rPr lang="ko-KR" altLang="en-US" dirty="0"/>
              <a:t>정확도</a:t>
            </a:r>
            <a:r>
              <a:rPr lang="en-US" altLang="ko-KR" dirty="0"/>
              <a:t>: 0.7680, </a:t>
            </a:r>
          </a:p>
          <a:p>
            <a:r>
              <a:rPr lang="ko-KR" altLang="en-US" dirty="0"/>
              <a:t>정밀도</a:t>
            </a:r>
            <a:r>
              <a:rPr lang="en-US" altLang="ko-KR" dirty="0"/>
              <a:t>: 0.4729, </a:t>
            </a:r>
          </a:p>
          <a:p>
            <a:r>
              <a:rPr lang="ko-KR" altLang="en-US" dirty="0" err="1"/>
              <a:t>재현율</a:t>
            </a:r>
            <a:r>
              <a:rPr lang="en-US" altLang="ko-KR" dirty="0"/>
              <a:t>: 0.4273, </a:t>
            </a:r>
          </a:p>
          <a:p>
            <a:r>
              <a:rPr lang="en-US" altLang="ko-KR" dirty="0"/>
              <a:t>F1 </a:t>
            </a:r>
            <a:r>
              <a:rPr lang="ko-KR" altLang="en-US" dirty="0"/>
              <a:t>스코어</a:t>
            </a:r>
            <a:r>
              <a:rPr lang="en-US" altLang="ko-KR" dirty="0"/>
              <a:t>: 0.4489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6FB79-F8E8-508C-EFA2-DB2B65D6DDFC}"/>
              </a:ext>
            </a:extLst>
          </p:cNvPr>
          <p:cNvSpPr txBox="1"/>
          <p:nvPr/>
        </p:nvSpPr>
        <p:spPr>
          <a:xfrm>
            <a:off x="5834417" y="2571750"/>
            <a:ext cx="204943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XGBOOST</a:t>
            </a:r>
          </a:p>
          <a:p>
            <a:r>
              <a:rPr lang="ko-KR" altLang="en-US" dirty="0"/>
              <a:t>정확도</a:t>
            </a:r>
            <a:r>
              <a:rPr lang="en-US" altLang="ko-KR" dirty="0"/>
              <a:t>: 0.7680, </a:t>
            </a:r>
          </a:p>
          <a:p>
            <a:r>
              <a:rPr lang="ko-KR" altLang="en-US" dirty="0"/>
              <a:t>정밀도</a:t>
            </a:r>
            <a:r>
              <a:rPr lang="en-US" altLang="ko-KR" dirty="0"/>
              <a:t>: 0.4729, </a:t>
            </a:r>
          </a:p>
          <a:p>
            <a:r>
              <a:rPr lang="ko-KR" altLang="en-US" dirty="0" err="1"/>
              <a:t>재현율</a:t>
            </a:r>
            <a:r>
              <a:rPr lang="en-US" altLang="ko-KR" dirty="0"/>
              <a:t>: 0.4273, </a:t>
            </a:r>
          </a:p>
          <a:p>
            <a:r>
              <a:rPr lang="en-US" altLang="ko-KR" dirty="0"/>
              <a:t>F1 </a:t>
            </a:r>
            <a:r>
              <a:rPr lang="ko-KR" altLang="en-US" dirty="0"/>
              <a:t>스코어</a:t>
            </a:r>
            <a:r>
              <a:rPr lang="en-US" altLang="ko-KR" dirty="0"/>
              <a:t>: 0.4489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6AEA04D-FA24-3E67-DBB8-609B2FC14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00" y="1167022"/>
            <a:ext cx="8162985" cy="9715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069E471-69C9-53AE-9176-B19FA7586F4E}"/>
              </a:ext>
            </a:extLst>
          </p:cNvPr>
          <p:cNvSpPr txBox="1"/>
          <p:nvPr/>
        </p:nvSpPr>
        <p:spPr>
          <a:xfrm>
            <a:off x="636896" y="363940"/>
            <a:ext cx="6550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SMOTE-NC</a:t>
            </a:r>
            <a:r>
              <a:rPr lang="ko-KR" altLang="en-US" dirty="0"/>
              <a:t>를 이용해 클래스 불균형 문제 해결 시도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C7C4DE-7CA1-361F-7568-CBE4355E956A}"/>
              </a:ext>
            </a:extLst>
          </p:cNvPr>
          <p:cNvSpPr txBox="1"/>
          <p:nvPr/>
        </p:nvSpPr>
        <p:spPr>
          <a:xfrm>
            <a:off x="982639" y="4007893"/>
            <a:ext cx="67556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“SMOTE </a:t>
            </a:r>
            <a:r>
              <a:rPr lang="ko-KR" altLang="en-US" sz="1600" dirty="0"/>
              <a:t>기법의 노이즈 증폭이 오히려 퍼포먼스를 떨어뜨릴 수도 있다</a:t>
            </a:r>
            <a:r>
              <a:rPr lang="en-US" altLang="ko-KR" sz="1600" dirty="0"/>
              <a:t>.”</a:t>
            </a:r>
          </a:p>
          <a:p>
            <a:r>
              <a:rPr lang="en-US" altLang="ko-KR" sz="1200" dirty="0"/>
              <a:t>Chawla, N. V., Bowyer, K. W., Hall, L. O., &amp; </a:t>
            </a:r>
            <a:r>
              <a:rPr lang="en-US" altLang="ko-KR" sz="1200" dirty="0" err="1"/>
              <a:t>Kegelmeyer</a:t>
            </a:r>
            <a:r>
              <a:rPr lang="en-US" altLang="ko-KR" sz="1200" dirty="0"/>
              <a:t>, W. P. (2002). "SMOTE: Synthetic Minority Over-sampling Technique". Journal of Artificial Intelligence Research, 16, 321–357.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94929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25" y="1584277"/>
            <a:ext cx="5279749" cy="237947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311700" y="198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GitHub Copilot처럼 원하는 모델을 사용자가 직접 선택 가능</a:t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5501675" y="1284380"/>
            <a:ext cx="3580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</a:rPr>
              <a:t>LightGBM: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2"/>
                </a:solidFill>
              </a:rPr>
              <a:t>속도와 성능을 </a:t>
            </a:r>
            <a:r>
              <a:rPr lang="ko-KR" altLang="en-US" sz="1800" dirty="0" err="1">
                <a:solidFill>
                  <a:schemeClr val="dk2"/>
                </a:solidFill>
              </a:rPr>
              <a:t>균형있게</a:t>
            </a:r>
            <a:r>
              <a:rPr lang="ko-KR" altLang="en-US" sz="1800" dirty="0">
                <a:solidFill>
                  <a:schemeClr val="dk2"/>
                </a:solidFill>
              </a:rPr>
              <a:t> 갖춘 모델</a:t>
            </a:r>
            <a:endParaRPr lang="en-US" altLang="ko-KR"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2"/>
                </a:solidFill>
              </a:rPr>
              <a:t> 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dirty="0">
                <a:solidFill>
                  <a:schemeClr val="dk2"/>
                </a:solidFill>
              </a:rPr>
              <a:t>XGBOOST:</a:t>
            </a:r>
            <a:endParaRPr lang="en-US" altLang="ko"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solidFill>
                  <a:schemeClr val="dk2"/>
                </a:solidFill>
              </a:rPr>
              <a:t>느리지만 정확도와 정밀도가 가장 높다</a:t>
            </a:r>
            <a:r>
              <a:rPr lang="en-US" altLang="ko-KR" sz="1800" dirty="0">
                <a:solidFill>
                  <a:schemeClr val="dk2"/>
                </a:solidFill>
              </a:rPr>
              <a:t>.</a:t>
            </a:r>
            <a:endParaRPr sz="1800" dirty="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2"/>
              </a:solidFill>
            </a:endParaRPr>
          </a:p>
          <a:p>
            <a:pPr lvl="0"/>
            <a:r>
              <a:rPr lang="en-US" altLang="ko-KR" sz="1800" dirty="0" err="1">
                <a:solidFill>
                  <a:schemeClr val="dk2"/>
                </a:solidFill>
              </a:rPr>
              <a:t>RandomForest</a:t>
            </a:r>
            <a:r>
              <a:rPr lang="en-US" altLang="ko-KR" sz="1800" dirty="0">
                <a:solidFill>
                  <a:schemeClr val="dk2"/>
                </a:solidFill>
              </a:rPr>
              <a:t>:</a:t>
            </a:r>
            <a:endParaRPr lang="ko-KR" altLang="en-US" sz="1800" dirty="0">
              <a:solidFill>
                <a:schemeClr val="dk2"/>
              </a:solidFill>
            </a:endParaRPr>
          </a:p>
          <a:p>
            <a:pPr lvl="0"/>
            <a:r>
              <a:rPr lang="ko-KR" altLang="en-US" sz="1800" dirty="0">
                <a:solidFill>
                  <a:schemeClr val="dk2"/>
                </a:solidFill>
              </a:rPr>
              <a:t>수치는 아쉽지만 가장 무난하다</a:t>
            </a:r>
            <a:r>
              <a:rPr lang="en-US" altLang="ko-KR" sz="1800" dirty="0">
                <a:solidFill>
                  <a:schemeClr val="dk2"/>
                </a:solidFill>
              </a:rPr>
              <a:t>.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Microsoft Office PowerPoint</Application>
  <PresentationFormat>화면 슬라이드 쇼(16:9)</PresentationFormat>
  <Paragraphs>51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CoCo 1조 디폴트 판별기</vt:lpstr>
      <vt:lpstr>ML 학습 -&gt; 복잡한 문제를 해결하기 위해 앙상블 기법 사용</vt:lpstr>
      <vt:lpstr>PowerPoint 프레젠테이션</vt:lpstr>
      <vt:lpstr>GitHub Copilot처럼 원하는 모델을 사용자가 직접 선택 가능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jinwook kim</cp:lastModifiedBy>
  <cp:revision>1</cp:revision>
  <dcterms:modified xsi:type="dcterms:W3CDTF">2025-11-24T00:58:08Z</dcterms:modified>
</cp:coreProperties>
</file>